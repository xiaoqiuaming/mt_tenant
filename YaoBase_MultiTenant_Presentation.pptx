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2" d="100"/>
          <a:sy n="202" d="100"/>
        </p:scale>
        <p:origin x="620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A6D349-9F99-7564-F51B-4571BD580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3A71E2-6001-C28F-7612-56A920E5C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B4D068-A430-AF3F-C7C8-CCB97A8BD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39070-C365-424A-9A79-2A7D38C67EB1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0F8755-E49B-4BDD-216C-A0E3A0D9D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6FDA92-E542-C2B7-5F37-D63F1C21F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7217-02C4-48DA-849E-40DF390F70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247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88659F-5CBC-A31E-56AE-9C9CB436C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E24CDA-EB64-6FED-90B3-CABA3843D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01A84E-153F-761F-A51E-FFC1DE725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39070-C365-424A-9A79-2A7D38C67EB1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8BD406-207C-0229-69F1-4D5A09069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90EC3D-6334-CC0E-05A0-20BF09124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7217-02C4-48DA-849E-40DF390F70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196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AADE92-5065-E218-1D9C-29D5D8012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D186DD-2897-1056-3D5C-FB5707E0D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2AD0B0-B581-BF94-A70A-D06DAF039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39070-C365-424A-9A79-2A7D38C67EB1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29D539-F5A9-896A-9689-37396A68F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C8E9BE-E449-52F1-F062-B5466FABE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7217-02C4-48DA-849E-40DF390F70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333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C49654-EAF1-7AD4-1396-207FE471F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8F9B1B-8938-F246-9E26-E284A6B155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6944C0-B7B2-2B4D-2990-E384AB414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6666B1-C655-1C3F-9124-7F20F3913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39070-C365-424A-9A79-2A7D38C67EB1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45D222-D6F3-F68A-63ED-307A0C673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77C3F0-4BD9-292B-F595-49BFD4E66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7217-02C4-48DA-849E-40DF390F70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093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35882E-1FBF-4A3D-7F86-8AEC3D50D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0AE4EC-055B-02D1-3568-62E684F80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46AFBD-72CF-EEC4-E2B1-54B12AA3E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D30D48-6AF1-7235-643C-AC369BD2F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F82A00F-370E-D659-FD64-B84D8CDD4C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1F427A4-508A-DABE-BE3E-DF968D7E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39070-C365-424A-9A79-2A7D38C67EB1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148A823-A8B8-8DE8-EAF6-D8E1C3E82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A1BD0CC-712C-9BBA-E56B-714BA86B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7217-02C4-48DA-849E-40DF390F70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832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CEF7C0-3A87-1B0C-13C7-B68DA248C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DFBE29F-D07E-5009-4646-90EDEC967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39070-C365-424A-9A79-2A7D38C67EB1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EF20CA3-C0BD-E791-7931-C50DE6B2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ECF08B-B00B-3478-B0E0-A144C4C77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7217-02C4-48DA-849E-40DF390F70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922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E44084D-AC2D-1E6C-DB13-845ECFBA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39070-C365-424A-9A79-2A7D38C67EB1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14FABB2-79A2-4005-A91A-AA63D9B9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0BEBCD-81BD-3C37-DFA3-B5FB0908D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7217-02C4-48DA-849E-40DF390F70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229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04C183-BD9C-BDFA-1040-D0CF8C203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55143E-26F7-816D-FF8F-E15BA60DC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91DD57-E50D-F647-9492-13A50FF7F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F8192B-940E-253D-9165-40BB03CFC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39070-C365-424A-9A79-2A7D38C67EB1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BDD13D-7043-FA56-C7AF-E5ED0091D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D8EADF-66DA-49B6-3E85-4A49171E6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7217-02C4-48DA-849E-40DF390F70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23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5BBE8E-719C-8D41-36B5-ADC9F3DF0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637C7F-34E9-FBD9-FB55-416F3D04D0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D69685-81B0-0AB2-981E-B7D4F0D55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0D364C-46D6-C552-6E2F-7F634065E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39070-C365-424A-9A79-2A7D38C67EB1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EB2885-38F4-4201-9065-4096AE208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C148D0-DA09-FAC1-B45A-A77C6CE48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7217-02C4-48DA-849E-40DF390F70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968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791EEA-AD9F-8752-B21E-C1BA85CF5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9E09DFB-DFB9-B433-2CB2-5D1802962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EE1F21-8EEE-C249-30E8-A82D3C7EC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39070-C365-424A-9A79-2A7D38C67EB1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6A4903-5807-D937-BF27-7FD19008E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BC2AD3-4853-1BEA-4104-79C2D55EC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7217-02C4-48DA-849E-40DF390F70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464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9CC87C4-1CAD-6691-DEF3-89A72EDF41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C8DA21-4D31-9AA0-ED53-64FBA67D2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01505D-68E6-F4A7-F31C-4261D31CA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39070-C365-424A-9A79-2A7D38C67EB1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495401-5F69-0D71-3E6D-EC0269BB3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FE0CA0-644A-794A-2DBC-B909B70C6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7217-02C4-48DA-849E-40DF390F70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85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DD8531A-3957-213F-61D3-29AB571E4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154E7A-8160-300A-EDC1-0B876ABE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53D4A5-BD31-DE82-C73C-23A62FB1E0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39070-C365-424A-9A79-2A7D38C67EB1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1CEC21-90B1-E36F-764D-45837382D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D6048C-DC59-FBA1-54E9-783B3945A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27217-02C4-48DA-849E-40DF390F70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997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C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357ABC0-4E82-99E3-80A7-D9FAD2E72082}"/>
              </a:ext>
            </a:extLst>
          </p:cNvPr>
          <p:cNvSpPr txBox="1"/>
          <p:nvPr/>
        </p:nvSpPr>
        <p:spPr>
          <a:xfrm>
            <a:off x="1270000" y="1905000"/>
            <a:ext cx="6604000" cy="15696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4800" b="1">
                <a:solidFill>
                  <a:srgbClr val="FFFFFF"/>
                </a:solidFill>
              </a:rPr>
              <a:t>YaoBase Multi-Tenant Resource Isolation</a:t>
            </a:r>
            <a:endParaRPr lang="zh-CN" altLang="en-US" sz="4800" b="1">
              <a:solidFill>
                <a:srgbClr val="FFFFFF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5C75C7E-9DAE-BE3A-DD62-9C2C6523D0CA}"/>
              </a:ext>
            </a:extLst>
          </p:cNvPr>
          <p:cNvSpPr txBox="1"/>
          <p:nvPr/>
        </p:nvSpPr>
        <p:spPr>
          <a:xfrm>
            <a:off x="1905000" y="2921000"/>
            <a:ext cx="5334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400">
                <a:solidFill>
                  <a:srgbClr val="FFFFFF"/>
                </a:solidFill>
              </a:rPr>
              <a:t>Distributed Database System Architecture</a:t>
            </a:r>
            <a:endParaRPr lang="zh-CN" altLang="en-US" sz="2400">
              <a:solidFill>
                <a:srgbClr val="FFFFFF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F92E46-4D45-571C-1360-4A8083EEB26E}"/>
              </a:ext>
            </a:extLst>
          </p:cNvPr>
          <p:cNvSpPr txBox="1"/>
          <p:nvPr/>
        </p:nvSpPr>
        <p:spPr>
          <a:xfrm>
            <a:off x="1905000" y="3937000"/>
            <a:ext cx="533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400">
                <a:solidFill>
                  <a:srgbClr val="E5E5E5"/>
                </a:solidFill>
              </a:rPr>
              <a:t>Shared Cluster  Logical Isolation  Elastic Scaling</a:t>
            </a:r>
            <a:endParaRPr lang="zh-CN" altLang="en-US" sz="1400">
              <a:solidFill>
                <a:srgbClr val="E5E5E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9773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5FE4B2A-DFEE-4C22-2066-CABCA79D1FB9}"/>
              </a:ext>
            </a:extLst>
          </p:cNvPr>
          <p:cNvSpPr/>
          <p:nvPr/>
        </p:nvSpPr>
        <p:spPr>
          <a:xfrm>
            <a:off x="635000" y="381000"/>
            <a:ext cx="7874000" cy="635000"/>
          </a:xfrm>
          <a:prstGeom prst="rect">
            <a:avLst/>
          </a:prstGeom>
          <a:solidFill>
            <a:srgbClr val="FFFFFF"/>
          </a:solidFill>
          <a:ln w="76200">
            <a:solidFill>
              <a:srgbClr val="2E60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>
                <a:solidFill>
                  <a:srgbClr val="1F3C70"/>
                </a:solidFill>
              </a:rPr>
              <a:t>System Architecture</a:t>
            </a:r>
            <a:endParaRPr lang="zh-CN" altLang="en-US" sz="3200" b="1">
              <a:solidFill>
                <a:srgbClr val="1F3C7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018CD0-E674-6170-22AF-1A2A09B71016}"/>
              </a:ext>
            </a:extLst>
          </p:cNvPr>
          <p:cNvSpPr/>
          <p:nvPr/>
        </p:nvSpPr>
        <p:spPr>
          <a:xfrm>
            <a:off x="635000" y="1143000"/>
            <a:ext cx="3556000" cy="177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100"/>
              <a:t>Core Components</a:t>
            </a:r>
          </a:p>
          <a:p>
            <a:pPr algn="ctr">
              <a:lnSpc>
                <a:spcPct val="150000"/>
              </a:lnSpc>
            </a:pPr>
            <a:r>
              <a:rPr lang="en-US" altLang="zh-CN" sz="1100"/>
              <a:t> AdminServer - Cluster Mgmt (Shared)</a:t>
            </a:r>
          </a:p>
          <a:p>
            <a:pPr algn="ctr">
              <a:lnSpc>
                <a:spcPct val="150000"/>
              </a:lnSpc>
            </a:pPr>
            <a:r>
              <a:rPr lang="en-US" altLang="zh-CN" sz="1100"/>
              <a:t> SqlServer - SQL Processing (Isolated)</a:t>
            </a:r>
          </a:p>
          <a:p>
            <a:pPr algn="ctr">
              <a:lnSpc>
                <a:spcPct val="150000"/>
              </a:lnSpc>
            </a:pPr>
            <a:r>
              <a:rPr lang="en-US" altLang="zh-CN" sz="1100"/>
              <a:t> TransServer - Incremental Data (Shared)</a:t>
            </a:r>
          </a:p>
          <a:p>
            <a:pPr algn="ctr">
              <a:lnSpc>
                <a:spcPct val="150000"/>
              </a:lnSpc>
            </a:pPr>
            <a:r>
              <a:rPr lang="en-US" altLang="zh-CN" sz="1100"/>
              <a:t> DataServer - Baseline Data (Isolated)</a:t>
            </a:r>
            <a:endParaRPr lang="zh-CN" altLang="en-US" sz="11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40AFB6-A335-166E-534E-64BC8F8F65C2}"/>
              </a:ext>
            </a:extLst>
          </p:cNvPr>
          <p:cNvSpPr/>
          <p:nvPr/>
        </p:nvSpPr>
        <p:spPr>
          <a:xfrm>
            <a:off x="635000" y="3048000"/>
            <a:ext cx="3556000" cy="1397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100"/>
              <a:t>Design Principles</a:t>
            </a:r>
          </a:p>
          <a:p>
            <a:pPr algn="ctr">
              <a:lnSpc>
                <a:spcPct val="150000"/>
              </a:lnSpc>
            </a:pPr>
            <a:r>
              <a:rPr lang="en-US" altLang="zh-CN" sz="1100"/>
              <a:t> Minimal invasion, Progressive</a:t>
            </a:r>
          </a:p>
          <a:p>
            <a:pPr algn="ctr">
              <a:lnSpc>
                <a:spcPct val="150000"/>
              </a:lnSpc>
            </a:pPr>
            <a:r>
              <a:rPr lang="en-US" altLang="zh-CN" sz="1100"/>
              <a:t> Tenant-aware, Configurable</a:t>
            </a:r>
          </a:p>
          <a:p>
            <a:pPr algn="ctr">
              <a:lnSpc>
                <a:spcPct val="150000"/>
              </a:lnSpc>
            </a:pPr>
            <a:r>
              <a:rPr lang="en-US" altLang="zh-CN" sz="1100"/>
              <a:t> High performance (overhead &lt; 5%)</a:t>
            </a:r>
            <a:endParaRPr lang="zh-CN" altLang="en-US" sz="11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E55C4E-3BF2-6E0E-E6CD-1E67D74CCBA9}"/>
              </a:ext>
            </a:extLst>
          </p:cNvPr>
          <p:cNvSpPr/>
          <p:nvPr/>
        </p:nvSpPr>
        <p:spPr>
          <a:xfrm>
            <a:off x="4953000" y="1143000"/>
            <a:ext cx="3556000" cy="177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100"/>
              <a:t>Resource Isolation</a:t>
            </a:r>
          </a:p>
          <a:p>
            <a:pPr algn="ctr">
              <a:lnSpc>
                <a:spcPct val="150000"/>
              </a:lnSpc>
            </a:pPr>
            <a:r>
              <a:rPr lang="en-US" altLang="zh-CN" sz="1100"/>
              <a:t> CPU - SqlServer thread pool+cgroup</a:t>
            </a:r>
          </a:p>
          <a:p>
            <a:pPr algn="ctr">
              <a:lnSpc>
                <a:spcPct val="150000"/>
              </a:lnSpc>
            </a:pPr>
            <a:r>
              <a:rPr lang="en-US" altLang="zh-CN" sz="1100"/>
              <a:t> Memory - SqlServer quota control</a:t>
            </a:r>
          </a:p>
          <a:p>
            <a:pPr algn="ctr">
              <a:lnSpc>
                <a:spcPct val="150000"/>
              </a:lnSpc>
            </a:pPr>
            <a:r>
              <a:rPr lang="en-US" altLang="zh-CN" sz="1100"/>
              <a:t> Disk - DataServer space limit</a:t>
            </a:r>
            <a:endParaRPr lang="zh-CN" altLang="en-US" sz="11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2CE3F9-EC1D-CB70-F997-8F28F7BE9CD2}"/>
              </a:ext>
            </a:extLst>
          </p:cNvPr>
          <p:cNvSpPr/>
          <p:nvPr/>
        </p:nvSpPr>
        <p:spPr>
          <a:xfrm>
            <a:off x="4953000" y="3048000"/>
            <a:ext cx="3556000" cy="1397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100"/>
              <a:t>Key Features</a:t>
            </a:r>
          </a:p>
          <a:p>
            <a:pPr algn="ctr">
              <a:lnSpc>
                <a:spcPct val="150000"/>
              </a:lnSpc>
            </a:pPr>
            <a:r>
              <a:rPr lang="en-US" altLang="zh-CN" sz="1100"/>
              <a:t> Support 1000+ tenants</a:t>
            </a:r>
          </a:p>
          <a:p>
            <a:pPr algn="ctr">
              <a:lnSpc>
                <a:spcPct val="150000"/>
              </a:lnSpc>
            </a:pPr>
            <a:r>
              <a:rPr lang="en-US" altLang="zh-CN" sz="1100"/>
              <a:t> Lock-free data structures</a:t>
            </a:r>
          </a:p>
          <a:p>
            <a:pPr algn="ctr">
              <a:lnSpc>
                <a:spcPct val="150000"/>
              </a:lnSpc>
            </a:pPr>
            <a:r>
              <a:rPr lang="en-US" altLang="zh-CN" sz="1100"/>
              <a:t> Dynamic quota adjustment</a:t>
            </a:r>
          </a:p>
          <a:p>
            <a:pPr algn="ctr">
              <a:lnSpc>
                <a:spcPct val="150000"/>
              </a:lnSpc>
            </a:pPr>
            <a:r>
              <a:rPr lang="en-US" altLang="zh-CN" sz="1100"/>
              <a:t> Full test coverage</a:t>
            </a:r>
            <a:endParaRPr lang="zh-CN" altLang="en-US" sz="1100"/>
          </a:p>
        </p:txBody>
      </p:sp>
    </p:spTree>
    <p:extLst>
      <p:ext uri="{BB962C8B-B14F-4D97-AF65-F5344CB8AC3E}">
        <p14:creationId xmlns:p14="http://schemas.microsoft.com/office/powerpoint/2010/main" val="678737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CED97BA-CB5A-D7BF-E8C0-A5B171A482F7}"/>
              </a:ext>
            </a:extLst>
          </p:cNvPr>
          <p:cNvSpPr/>
          <p:nvPr/>
        </p:nvSpPr>
        <p:spPr>
          <a:xfrm>
            <a:off x="635000" y="381000"/>
            <a:ext cx="7874000" cy="635000"/>
          </a:xfrm>
          <a:prstGeom prst="rect">
            <a:avLst/>
          </a:prstGeom>
          <a:solidFill>
            <a:srgbClr val="FFFFFF"/>
          </a:solidFill>
          <a:ln w="76200">
            <a:solidFill>
              <a:srgbClr val="2E60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>
                <a:solidFill>
                  <a:srgbClr val="1F3C70"/>
                </a:solidFill>
              </a:rPr>
              <a:t>Request Flow &amp; Tech Stack</a:t>
            </a:r>
            <a:endParaRPr lang="zh-CN" altLang="en-US" sz="2800" b="1">
              <a:solidFill>
                <a:srgbClr val="1F3C7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650D3A-B94A-FB2A-68AF-9D05BA6EEFAB}"/>
              </a:ext>
            </a:extLst>
          </p:cNvPr>
          <p:cNvSpPr/>
          <p:nvPr/>
        </p:nvSpPr>
        <p:spPr>
          <a:xfrm>
            <a:off x="635000" y="1143000"/>
            <a:ext cx="2476500" cy="889000"/>
          </a:xfrm>
          <a:prstGeom prst="rect">
            <a:avLst/>
          </a:prstGeom>
          <a:solidFill>
            <a:srgbClr val="F9EEE8"/>
          </a:solidFill>
          <a:ln w="38100">
            <a:solidFill>
              <a:srgbClr val="2E60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/>
              <a:t>1. Connect</a:t>
            </a:r>
          </a:p>
          <a:p>
            <a:pPr algn="ctr"/>
            <a:r>
              <a:rPr lang="en-US" altLang="zh-CN" sz="1100"/>
              <a:t>Tenant ID</a:t>
            </a:r>
            <a:endParaRPr lang="zh-CN" altLang="en-US" sz="11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4F4B36-B2F9-7038-434B-A1B098B22244}"/>
              </a:ext>
            </a:extLst>
          </p:cNvPr>
          <p:cNvSpPr/>
          <p:nvPr/>
        </p:nvSpPr>
        <p:spPr>
          <a:xfrm>
            <a:off x="3238500" y="1143000"/>
            <a:ext cx="2476500" cy="889000"/>
          </a:xfrm>
          <a:prstGeom prst="rect">
            <a:avLst/>
          </a:prstGeom>
          <a:solidFill>
            <a:srgbClr val="F9EEE8"/>
          </a:solidFill>
          <a:ln w="38100">
            <a:solidFill>
              <a:srgbClr val="2E60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/>
              <a:t>2. Auth</a:t>
            </a:r>
          </a:p>
          <a:p>
            <a:pPr algn="ctr"/>
            <a:r>
              <a:rPr lang="en-US" altLang="zh-CN" sz="1100"/>
              <a:t>Permissions</a:t>
            </a:r>
            <a:endParaRPr lang="zh-CN" altLang="en-US" sz="11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5F79CE-656A-D4A2-089B-4F3883323105}"/>
              </a:ext>
            </a:extLst>
          </p:cNvPr>
          <p:cNvSpPr/>
          <p:nvPr/>
        </p:nvSpPr>
        <p:spPr>
          <a:xfrm>
            <a:off x="5842000" y="1143000"/>
            <a:ext cx="2476500" cy="889000"/>
          </a:xfrm>
          <a:prstGeom prst="rect">
            <a:avLst/>
          </a:prstGeom>
          <a:solidFill>
            <a:srgbClr val="F9EEE8"/>
          </a:solidFill>
          <a:ln w="38100">
            <a:solidFill>
              <a:srgbClr val="2E60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/>
              <a:t>3. Check Quota</a:t>
            </a:r>
          </a:p>
          <a:p>
            <a:pPr algn="ctr"/>
            <a:r>
              <a:rPr lang="en-US" altLang="zh-CN" sz="1100"/>
              <a:t>CPU/Memory</a:t>
            </a:r>
            <a:endParaRPr lang="zh-CN" altLang="en-US" sz="11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162F73-5209-D595-45AD-5E76DDBE07AE}"/>
              </a:ext>
            </a:extLst>
          </p:cNvPr>
          <p:cNvSpPr/>
          <p:nvPr/>
        </p:nvSpPr>
        <p:spPr>
          <a:xfrm>
            <a:off x="635000" y="2159000"/>
            <a:ext cx="2476500" cy="889000"/>
          </a:xfrm>
          <a:prstGeom prst="rect">
            <a:avLst/>
          </a:prstGeom>
          <a:solidFill>
            <a:srgbClr val="F9EEE8"/>
          </a:solidFill>
          <a:ln w="38100">
            <a:solidFill>
              <a:srgbClr val="2E60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/>
              <a:t>4. Thread Alloc</a:t>
            </a:r>
          </a:p>
          <a:p>
            <a:pPr algn="ctr"/>
            <a:r>
              <a:rPr lang="en-US" altLang="zh-CN" sz="1100"/>
              <a:t>Task Queue</a:t>
            </a:r>
            <a:endParaRPr lang="zh-CN" altLang="en-US" sz="11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0F8306-1082-B77D-49DF-36BD9B6DC496}"/>
              </a:ext>
            </a:extLst>
          </p:cNvPr>
          <p:cNvSpPr/>
          <p:nvPr/>
        </p:nvSpPr>
        <p:spPr>
          <a:xfrm>
            <a:off x="3238500" y="2159000"/>
            <a:ext cx="2476500" cy="889000"/>
          </a:xfrm>
          <a:prstGeom prst="rect">
            <a:avLst/>
          </a:prstGeom>
          <a:solidFill>
            <a:srgbClr val="F9EEE8"/>
          </a:solidFill>
          <a:ln w="38100">
            <a:solidFill>
              <a:srgbClr val="2E60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/>
              <a:t>5. SQL Exec</a:t>
            </a:r>
          </a:p>
          <a:p>
            <a:pPr algn="ctr"/>
            <a:r>
              <a:rPr lang="en-US" altLang="zh-CN" sz="1100"/>
              <a:t>Dist Plan</a:t>
            </a:r>
            <a:endParaRPr lang="zh-CN" altLang="en-US" sz="11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991B5AD-1F9B-CC0C-868E-F6B50B782807}"/>
              </a:ext>
            </a:extLst>
          </p:cNvPr>
          <p:cNvSpPr/>
          <p:nvPr/>
        </p:nvSpPr>
        <p:spPr>
          <a:xfrm>
            <a:off x="5842000" y="2159000"/>
            <a:ext cx="2476500" cy="889000"/>
          </a:xfrm>
          <a:prstGeom prst="rect">
            <a:avLst/>
          </a:prstGeom>
          <a:solidFill>
            <a:srgbClr val="F9EEE8"/>
          </a:solidFill>
          <a:ln w="38100">
            <a:solidFill>
              <a:srgbClr val="2E60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/>
              <a:t>6. Monitor</a:t>
            </a:r>
          </a:p>
          <a:p>
            <a:pPr algn="ctr"/>
            <a:r>
              <a:rPr lang="en-US" altLang="zh-CN" sz="1100"/>
              <a:t>Real-time Alert</a:t>
            </a:r>
            <a:endParaRPr lang="zh-CN" altLang="en-US" sz="110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3FA9EF-016A-2DDA-A137-090EE52AA2B6}"/>
              </a:ext>
            </a:extLst>
          </p:cNvPr>
          <p:cNvSpPr/>
          <p:nvPr/>
        </p:nvSpPr>
        <p:spPr>
          <a:xfrm>
            <a:off x="635000" y="3302000"/>
            <a:ext cx="2057400" cy="444500"/>
          </a:xfrm>
          <a:prstGeom prst="rect">
            <a:avLst/>
          </a:prstGeom>
          <a:solidFill>
            <a:srgbClr val="1F3C7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>
                <a:solidFill>
                  <a:srgbClr val="FFFFFF"/>
                </a:solidFill>
              </a:rPr>
              <a:t>TenantContext</a:t>
            </a:r>
            <a:endParaRPr lang="zh-CN" altLang="en-US" sz="1100" b="1">
              <a:solidFill>
                <a:srgbClr val="FFFFFF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2D306B-EDAC-FC71-1F7A-F0B71B0ED8E8}"/>
              </a:ext>
            </a:extLst>
          </p:cNvPr>
          <p:cNvSpPr/>
          <p:nvPr/>
        </p:nvSpPr>
        <p:spPr>
          <a:xfrm>
            <a:off x="2819400" y="3302000"/>
            <a:ext cx="2057400" cy="444500"/>
          </a:xfrm>
          <a:prstGeom prst="rect">
            <a:avLst/>
          </a:prstGeom>
          <a:solidFill>
            <a:srgbClr val="1F3C7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>
                <a:solidFill>
                  <a:srgbClr val="FFFFFF"/>
                </a:solidFill>
              </a:rPr>
              <a:t>CpuManager</a:t>
            </a:r>
            <a:endParaRPr lang="zh-CN" altLang="en-US" sz="1100" b="1">
              <a:solidFill>
                <a:srgbClr val="FFFFFF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96485C7-9DDC-FD9F-4B34-D74E2961B5A1}"/>
              </a:ext>
            </a:extLst>
          </p:cNvPr>
          <p:cNvSpPr/>
          <p:nvPr/>
        </p:nvSpPr>
        <p:spPr>
          <a:xfrm>
            <a:off x="5003800" y="3302000"/>
            <a:ext cx="2057400" cy="444500"/>
          </a:xfrm>
          <a:prstGeom prst="rect">
            <a:avLst/>
          </a:prstGeom>
          <a:solidFill>
            <a:srgbClr val="1F3C7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>
                <a:solidFill>
                  <a:srgbClr val="FFFFFF"/>
                </a:solidFill>
              </a:rPr>
              <a:t>MemoryManager</a:t>
            </a:r>
            <a:endParaRPr lang="zh-CN" altLang="en-US" sz="1100" b="1">
              <a:solidFill>
                <a:srgbClr val="FFFFFF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5A740F-67C0-7C0E-4456-47592625089A}"/>
              </a:ext>
            </a:extLst>
          </p:cNvPr>
          <p:cNvSpPr/>
          <p:nvPr/>
        </p:nvSpPr>
        <p:spPr>
          <a:xfrm>
            <a:off x="7188200" y="3302000"/>
            <a:ext cx="2057400" cy="444500"/>
          </a:xfrm>
          <a:prstGeom prst="rect">
            <a:avLst/>
          </a:prstGeom>
          <a:solidFill>
            <a:srgbClr val="1F3C7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>
                <a:solidFill>
                  <a:srgbClr val="FFFFFF"/>
                </a:solidFill>
              </a:rPr>
              <a:t>DiskManager</a:t>
            </a:r>
            <a:endParaRPr lang="zh-CN" altLang="en-US" sz="1100" b="1">
              <a:solidFill>
                <a:srgbClr val="FFFFFF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919C5E1-9C38-DE3B-35D5-9A8FF4C42FAA}"/>
              </a:ext>
            </a:extLst>
          </p:cNvPr>
          <p:cNvSpPr/>
          <p:nvPr/>
        </p:nvSpPr>
        <p:spPr>
          <a:xfrm>
            <a:off x="635000" y="3873500"/>
            <a:ext cx="2057400" cy="444500"/>
          </a:xfrm>
          <a:prstGeom prst="rect">
            <a:avLst/>
          </a:prstGeom>
          <a:solidFill>
            <a:srgbClr val="1F3C7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>
                <a:solidFill>
                  <a:srgbClr val="FFFFFF"/>
                </a:solidFill>
              </a:rPr>
              <a:t>ThreadPool</a:t>
            </a:r>
            <a:endParaRPr lang="zh-CN" altLang="en-US" sz="1100" b="1">
              <a:solidFill>
                <a:srgbClr val="FFFFFF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8EE3A4-C302-929E-C1B0-472D6A908F8A}"/>
              </a:ext>
            </a:extLst>
          </p:cNvPr>
          <p:cNvSpPr/>
          <p:nvPr/>
        </p:nvSpPr>
        <p:spPr>
          <a:xfrm>
            <a:off x="2819400" y="3873500"/>
            <a:ext cx="2057400" cy="444500"/>
          </a:xfrm>
          <a:prstGeom prst="rect">
            <a:avLst/>
          </a:prstGeom>
          <a:solidFill>
            <a:srgbClr val="1F3C7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>
                <a:solidFill>
                  <a:srgbClr val="FFFFFF"/>
                </a:solidFill>
              </a:rPr>
              <a:t>CgroupCtrl</a:t>
            </a:r>
            <a:endParaRPr lang="zh-CN" altLang="en-US" sz="1100" b="1">
              <a:solidFill>
                <a:srgbClr val="FFFFFF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457A835-9067-BDE9-261A-FB85BDA82265}"/>
              </a:ext>
            </a:extLst>
          </p:cNvPr>
          <p:cNvSpPr/>
          <p:nvPr/>
        </p:nvSpPr>
        <p:spPr>
          <a:xfrm>
            <a:off x="5003800" y="3873500"/>
            <a:ext cx="2057400" cy="444500"/>
          </a:xfrm>
          <a:prstGeom prst="rect">
            <a:avLst/>
          </a:prstGeom>
          <a:solidFill>
            <a:srgbClr val="1F3C7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>
                <a:solidFill>
                  <a:srgbClr val="FFFFFF"/>
                </a:solidFill>
              </a:rPr>
              <a:t>QuotaChecker</a:t>
            </a:r>
            <a:endParaRPr lang="zh-CN" altLang="en-US" sz="1100" b="1">
              <a:solidFill>
                <a:srgbClr val="FFFFFF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C8C6B86-3585-1478-CC7B-4AE4ACF6877E}"/>
              </a:ext>
            </a:extLst>
          </p:cNvPr>
          <p:cNvSpPr/>
          <p:nvPr/>
        </p:nvSpPr>
        <p:spPr>
          <a:xfrm>
            <a:off x="7188200" y="3873500"/>
            <a:ext cx="2057400" cy="444500"/>
          </a:xfrm>
          <a:prstGeom prst="rect">
            <a:avLst/>
          </a:prstGeom>
          <a:solidFill>
            <a:srgbClr val="1F3C7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>
                <a:solidFill>
                  <a:srgbClr val="FFFFFF"/>
                </a:solidFill>
              </a:rPr>
              <a:t>Authenticator</a:t>
            </a:r>
            <a:endParaRPr lang="zh-CN" altLang="en-US" sz="11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599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</Words>
  <Application>Microsoft Office PowerPoint</Application>
  <PresentationFormat>自定义</PresentationFormat>
  <Paragraphs>43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丘 华明</dc:creator>
  <cp:lastModifiedBy>丘 华明</cp:lastModifiedBy>
  <cp:revision>1</cp:revision>
  <dcterms:created xsi:type="dcterms:W3CDTF">2026-01-13T15:50:35Z</dcterms:created>
  <dcterms:modified xsi:type="dcterms:W3CDTF">2026-01-13T15:50:35Z</dcterms:modified>
</cp:coreProperties>
</file>